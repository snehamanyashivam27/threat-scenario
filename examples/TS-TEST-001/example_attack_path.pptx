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D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519"/>
    <p:restoredTop sz="94731"/>
  </p:normalViewPr>
  <p:slideViewPr>
    <p:cSldViewPr snapToGrid="0">
      <p:cViewPr>
        <p:scale>
          <a:sx n="142" d="100"/>
          <a:sy n="142" d="100"/>
        </p:scale>
        <p:origin x="424" y="6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D94A60-CAF0-0979-4802-0C200F8D4A4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de-DE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5CE1DB8-A949-1D8E-7586-91F0C874AB1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de-D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253E3F6-11F6-AE87-B19C-5EC70FA40C6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3CC3C5-71EE-FA46-9CF2-6490F63D6823}" type="datetimeFigureOut">
              <a:rPr lang="de-DE" smtClean="0"/>
              <a:t>17.07.26</a:t>
            </a:fld>
            <a:endParaRPr lang="de-D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78022BE-BEA1-A259-6E80-F924462D98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9445B6E-8E46-F765-1AD2-D6BC08A734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248D3A-05E6-3547-A562-60E8B225EB73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28971715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4BDC97-8196-2339-3687-51EB9B8939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de-DE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2EDFC48-9355-CF70-B246-7DA47B0926F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de-D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9731216-0B9E-3756-4908-5218427F75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3CC3C5-71EE-FA46-9CF2-6490F63D6823}" type="datetimeFigureOut">
              <a:rPr lang="de-DE" smtClean="0"/>
              <a:t>17.07.26</a:t>
            </a:fld>
            <a:endParaRPr lang="de-D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A0BD323-0D91-EF89-FA12-A6F958239E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C3C9CAF-01EB-1CFA-BC94-92FB3E72D1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248D3A-05E6-3547-A562-60E8B225EB73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41729920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217C89-E82A-E185-496E-2D47F723A0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de-DE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E90D9D5-D5BC-65A8-6DC4-BD872634556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00A3201-3EB7-35C3-3D96-9A97AB61B91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3CC3C5-71EE-FA46-9CF2-6490F63D6823}" type="datetimeFigureOut">
              <a:rPr lang="de-DE" smtClean="0"/>
              <a:t>17.07.26</a:t>
            </a:fld>
            <a:endParaRPr lang="de-D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A6BD18D-11B2-9DBB-439A-56C7A931AD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B0FF4F3-6D4F-CE9C-D9FF-69DA650371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248D3A-05E6-3547-A562-60E8B225EB73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49497709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34379B-770A-07DD-D247-8ED559983F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de-DE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2145610-9E6E-A4A0-BD9A-0F20D80575D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de-DE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A434B38-B236-9B1E-70EA-8411E929AFA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de-DE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FD61F63-8BA2-C2A5-18AB-28E3A040061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3CC3C5-71EE-FA46-9CF2-6490F63D6823}" type="datetimeFigureOut">
              <a:rPr lang="de-DE" smtClean="0"/>
              <a:t>17.07.26</a:t>
            </a:fld>
            <a:endParaRPr lang="de-DE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3629C65-8673-F49D-7ACC-ADD7B446D0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D1C691D-33E3-A3E9-DE7E-F64103FC74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248D3A-05E6-3547-A562-60E8B225EB73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74781786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410EF3-C1B2-0699-A754-8E9EF23072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de-DE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728DD69-D2B0-6E7E-1026-A02335DE2A6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A650E2C-2FE7-21D8-2464-2373D5190B4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de-DE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FC8C367-AB22-C450-D3A3-2E79A061863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C4B000D-090D-4C2C-C338-38DC400D337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de-DE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B7C5182-B44D-AB93-2221-D7F6E5EF78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3CC3C5-71EE-FA46-9CF2-6490F63D6823}" type="datetimeFigureOut">
              <a:rPr lang="de-DE" smtClean="0"/>
              <a:t>17.07.26</a:t>
            </a:fld>
            <a:endParaRPr lang="de-DE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BE71735F-9157-C639-A8B8-07D6B6AFB0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79D42C0-FC2B-FCCC-69FC-B6E53832F5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248D3A-05E6-3547-A562-60E8B225EB73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12245939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71D1DC-4AAB-F342-E9B5-AF7F6E69B31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de-DE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533EE80-26FF-014A-082B-4343C6BBD7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3CC3C5-71EE-FA46-9CF2-6490F63D6823}" type="datetimeFigureOut">
              <a:rPr lang="de-DE" smtClean="0"/>
              <a:t>17.07.26</a:t>
            </a:fld>
            <a:endParaRPr lang="de-DE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EC2A5E2-22AB-E133-7E90-502E83EDA0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4DF119F-5D30-45C6-826A-7E78A58EB2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248D3A-05E6-3547-A562-60E8B225EB73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32501314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65F711AB-CA11-8AF7-8875-992C524B33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3CC3C5-71EE-FA46-9CF2-6490F63D6823}" type="datetimeFigureOut">
              <a:rPr lang="de-DE" smtClean="0"/>
              <a:t>17.07.26</a:t>
            </a:fld>
            <a:endParaRPr lang="de-DE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C3DC20A-9C54-6D26-ED72-97CB2C7AA0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D12C7F1-43C2-12B8-BCCB-DAEEB9626F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248D3A-05E6-3547-A562-60E8B225EB73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63256989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E0076D-01E3-042C-EA6E-D5DBDE84544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de-DE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21B7459-697A-7EF4-7B89-2E6B6BB777C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de-DE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A883B3C-05AE-AA2A-A1AC-A580665F42C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210BA5A-2E8C-70FC-6BAA-096F4AA671C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3CC3C5-71EE-FA46-9CF2-6490F63D6823}" type="datetimeFigureOut">
              <a:rPr lang="de-DE" smtClean="0"/>
              <a:t>17.07.26</a:t>
            </a:fld>
            <a:endParaRPr lang="de-DE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A4D6DF4-EC15-E83A-CE57-81B1A2C65D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7284EB7-721E-737F-FA3D-FD18701D63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248D3A-05E6-3547-A562-60E8B225EB73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48065620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280182-D90E-C8B4-7B6C-089C04BC480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de-DE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066E800A-53A2-65D0-6060-F06202EB92B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de-DE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DA1546D-4CDD-5E45-20D4-0B7BBBB783B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F8D4FD2-FEBC-AC7E-C0B7-CD4BE020AD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3CC3C5-71EE-FA46-9CF2-6490F63D6823}" type="datetimeFigureOut">
              <a:rPr lang="de-DE" smtClean="0"/>
              <a:t>17.07.26</a:t>
            </a:fld>
            <a:endParaRPr lang="de-DE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903A9DB-EF57-9129-43AA-811FBAF6FF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D5CE90D-E408-86E4-CBAF-56FCBD8DA6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248D3A-05E6-3547-A562-60E8B225EB73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06457127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EA81A8-C422-0672-36ED-2F26DF4C81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de-DE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3210643-A129-6626-D5B6-D53B6D79E55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de-D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F8323DC-65DB-49FD-034D-E94924D625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3CC3C5-71EE-FA46-9CF2-6490F63D6823}" type="datetimeFigureOut">
              <a:rPr lang="de-DE" smtClean="0"/>
              <a:t>17.07.26</a:t>
            </a:fld>
            <a:endParaRPr lang="de-D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7D44409-E396-2828-37F6-C26FA7F5F9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E3DBDAA-C9CA-3EE8-AB49-AC0B07954E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248D3A-05E6-3547-A562-60E8B225EB73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65556374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B3487E0E-F687-4AFF-873F-0AFA6171377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de-DE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4EFDF20-F184-561D-E4B9-26287B56871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de-D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2AF7F34-D924-D5CF-55AB-E0B216B647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3CC3C5-71EE-FA46-9CF2-6490F63D6823}" type="datetimeFigureOut">
              <a:rPr lang="de-DE" smtClean="0"/>
              <a:t>17.07.26</a:t>
            </a:fld>
            <a:endParaRPr lang="de-D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A6508FC-C473-58FF-D0F0-5B4517AFEC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4393BD1-73A5-40C0-019C-9D08C8F78B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248D3A-05E6-3547-A562-60E8B225EB73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76519223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5BC37B6-0991-4B22-E30A-23868F3FDA8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de-DE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1D77759-E546-1AB5-DDE6-81615BC09C6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de-D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6802C6-F763-489F-EA6B-E4CA6406300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D3CC3C5-71EE-FA46-9CF2-6490F63D6823}" type="datetimeFigureOut">
              <a:rPr lang="de-DE" smtClean="0"/>
              <a:t>17.07.26</a:t>
            </a:fld>
            <a:endParaRPr lang="de-D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C23FC71-2A82-82F8-90FE-C6693C2C593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de-D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4BB5450-0073-4918-10D6-B7B70A4298C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D248D3A-05E6-3547-A562-60E8B225EB73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72454447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8AC5E4F3-64C4-3B08-C1DB-A2B2D9A021FE}"/>
              </a:ext>
            </a:extLst>
          </p:cNvPr>
          <p:cNvSpPr/>
          <p:nvPr/>
        </p:nvSpPr>
        <p:spPr>
          <a:xfrm>
            <a:off x="8244154" y="1847701"/>
            <a:ext cx="2020849" cy="838764"/>
          </a:xfrm>
          <a:prstGeom prst="rect">
            <a:avLst/>
          </a:prstGeom>
          <a:noFill/>
          <a:ln>
            <a:solidFill>
              <a:schemeClr val="bg1">
                <a:lumMod val="75000"/>
              </a:scheme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en-US" sz="11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cmp-station-rtu-01</a:t>
            </a:r>
            <a:endParaRPr lang="en-US" sz="1400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E94020BB-8D99-49A6-A6EC-7D3D14E09CA4}"/>
              </a:ext>
            </a:extLst>
          </p:cNvPr>
          <p:cNvSpPr/>
          <p:nvPr/>
        </p:nvSpPr>
        <p:spPr>
          <a:xfrm>
            <a:off x="8154152" y="2093115"/>
            <a:ext cx="180000" cy="180000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75000"/>
              </a:scheme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503999" rIns="46800" rtlCol="0" anchor="ctr" anchorCtr="0"/>
          <a:lstStyle/>
          <a:p>
            <a:pPr algn="ctr"/>
            <a:endParaRPr lang="en-US" sz="800" b="1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6558658B-8494-D591-11BB-21119DD4097A}"/>
              </a:ext>
            </a:extLst>
          </p:cNvPr>
          <p:cNvCxnSpPr>
            <a:cxnSpLocks/>
            <a:stCxn id="6" idx="3"/>
            <a:endCxn id="7" idx="1"/>
          </p:cNvCxnSpPr>
          <p:nvPr/>
        </p:nvCxnSpPr>
        <p:spPr>
          <a:xfrm>
            <a:off x="6998846" y="2183115"/>
            <a:ext cx="1155306" cy="0"/>
          </a:xfrm>
          <a:prstGeom prst="line">
            <a:avLst/>
          </a:prstGeom>
          <a:ln w="12700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Rectangle 9">
            <a:extLst>
              <a:ext uri="{FF2B5EF4-FFF2-40B4-BE49-F238E27FC236}">
                <a16:creationId xmlns:a16="http://schemas.microsoft.com/office/drawing/2014/main" id="{2169F77A-B63B-80AF-CA6F-FB13481C213F}"/>
              </a:ext>
            </a:extLst>
          </p:cNvPr>
          <p:cNvSpPr/>
          <p:nvPr/>
        </p:nvSpPr>
        <p:spPr>
          <a:xfrm>
            <a:off x="4887998" y="1847701"/>
            <a:ext cx="2020848" cy="1050384"/>
          </a:xfrm>
          <a:prstGeom prst="rect">
            <a:avLst/>
          </a:prstGeom>
          <a:noFill/>
          <a:ln>
            <a:solidFill>
              <a:schemeClr val="bg1">
                <a:lumMod val="75000"/>
              </a:scheme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en-US" sz="11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cmp-station-switch-01</a:t>
            </a:r>
            <a:endParaRPr lang="en-US" sz="1400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4D6C84F4-2626-C6A5-500C-B55B6788D659}"/>
              </a:ext>
            </a:extLst>
          </p:cNvPr>
          <p:cNvSpPr/>
          <p:nvPr/>
        </p:nvSpPr>
        <p:spPr>
          <a:xfrm>
            <a:off x="6818846" y="2093115"/>
            <a:ext cx="180000" cy="180000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75000"/>
              </a:scheme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503998" tIns="0" rIns="46800" bIns="180000" rtlCol="0" anchor="ctr" anchorCtr="0"/>
          <a:lstStyle/>
          <a:p>
            <a:pPr algn="ctr"/>
            <a:endParaRPr lang="en-US" sz="800" b="1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7792B35C-EAE8-F64C-C4E3-D93EA7D6309A}"/>
              </a:ext>
            </a:extLst>
          </p:cNvPr>
          <p:cNvSpPr/>
          <p:nvPr/>
        </p:nvSpPr>
        <p:spPr>
          <a:xfrm>
            <a:off x="4797995" y="2093115"/>
            <a:ext cx="180000" cy="180000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75000"/>
              </a:scheme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503998" tIns="0" rIns="46800" bIns="180000" rtlCol="0" anchor="ctr" anchorCtr="0"/>
          <a:lstStyle/>
          <a:p>
            <a:pPr algn="ctr"/>
            <a:endParaRPr lang="en-US" sz="800" b="1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E1208E95-AAC3-290E-DBBA-85E50E4A36E4}"/>
              </a:ext>
            </a:extLst>
          </p:cNvPr>
          <p:cNvSpPr/>
          <p:nvPr/>
        </p:nvSpPr>
        <p:spPr>
          <a:xfrm>
            <a:off x="1531839" y="1847701"/>
            <a:ext cx="2020848" cy="838764"/>
          </a:xfrm>
          <a:prstGeom prst="rect">
            <a:avLst/>
          </a:prstGeom>
          <a:noFill/>
          <a:ln>
            <a:solidFill>
              <a:schemeClr val="bg1">
                <a:lumMod val="75000"/>
              </a:scheme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en-US" sz="11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cmp-maintenance-laptop-01</a:t>
            </a:r>
            <a:endParaRPr lang="en-US" sz="1400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158FF75A-69ED-1B14-3B76-41235A2327D0}"/>
              </a:ext>
            </a:extLst>
          </p:cNvPr>
          <p:cNvSpPr/>
          <p:nvPr/>
        </p:nvSpPr>
        <p:spPr>
          <a:xfrm>
            <a:off x="3462687" y="2093115"/>
            <a:ext cx="180000" cy="180000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75000"/>
              </a:scheme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503998" tIns="0" rIns="46800" bIns="180000" rtlCol="0" anchor="ctr" anchorCtr="0"/>
          <a:lstStyle/>
          <a:p>
            <a:pPr algn="ctr"/>
            <a:endParaRPr lang="en-US" sz="800" b="1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003E5006-79D3-716B-BEF8-3F323C86457E}"/>
              </a:ext>
            </a:extLst>
          </p:cNvPr>
          <p:cNvCxnSpPr>
            <a:cxnSpLocks/>
            <a:stCxn id="14" idx="3"/>
            <a:endCxn id="11" idx="1"/>
          </p:cNvCxnSpPr>
          <p:nvPr/>
        </p:nvCxnSpPr>
        <p:spPr>
          <a:xfrm>
            <a:off x="3642687" y="2183115"/>
            <a:ext cx="1155308" cy="0"/>
          </a:xfrm>
          <a:prstGeom prst="line">
            <a:avLst/>
          </a:prstGeom>
          <a:ln w="12700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Rectangle 17">
            <a:extLst>
              <a:ext uri="{FF2B5EF4-FFF2-40B4-BE49-F238E27FC236}">
                <a16:creationId xmlns:a16="http://schemas.microsoft.com/office/drawing/2014/main" id="{805A633B-A5C3-1276-FF6D-A34E29560AD9}"/>
              </a:ext>
            </a:extLst>
          </p:cNvPr>
          <p:cNvSpPr/>
          <p:nvPr/>
        </p:nvSpPr>
        <p:spPr>
          <a:xfrm>
            <a:off x="4797995" y="2544467"/>
            <a:ext cx="180000" cy="180000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75000"/>
              </a:scheme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503998" tIns="0" rIns="46800" bIns="180000" rtlCol="0" anchor="ctr" anchorCtr="0"/>
          <a:lstStyle/>
          <a:p>
            <a:pPr algn="ctr"/>
            <a:endParaRPr lang="en-US" sz="800" b="1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78A4B1E1-A548-FACD-7E6E-0EBCE4CF5546}"/>
              </a:ext>
            </a:extLst>
          </p:cNvPr>
          <p:cNvSpPr/>
          <p:nvPr/>
        </p:nvSpPr>
        <p:spPr>
          <a:xfrm>
            <a:off x="6807292" y="2617040"/>
            <a:ext cx="180000" cy="180000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75000"/>
              </a:scheme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503998" tIns="0" rIns="46800" bIns="180000" rtlCol="0" anchor="ctr" anchorCtr="0"/>
          <a:lstStyle/>
          <a:p>
            <a:pPr algn="ctr"/>
            <a:endParaRPr lang="en-US" sz="800" b="1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E3D1A9AC-8C23-1FDB-3A3E-69BD896C48EF}"/>
              </a:ext>
            </a:extLst>
          </p:cNvPr>
          <p:cNvSpPr txBox="1"/>
          <p:nvPr/>
        </p:nvSpPr>
        <p:spPr>
          <a:xfrm>
            <a:off x="1531842" y="561328"/>
            <a:ext cx="2565105" cy="10618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050" b="1" noProof="0" dirty="0"/>
              <a:t>Maintenance Laptop</a:t>
            </a:r>
            <a:br>
              <a:rPr lang="en-US" sz="1050" noProof="0" dirty="0"/>
            </a:br>
            <a:r>
              <a:rPr lang="en-US" sz="1050" noProof="0" dirty="0"/>
              <a:t>A mobile engineering and maintenance device used by a service technician. It is temporarily connected to the OT network during maintenance activities and serves as the entry point of the attack path.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E2D57402-8F1A-A246-CC79-465FC9E735A7}"/>
              </a:ext>
            </a:extLst>
          </p:cNvPr>
          <p:cNvSpPr txBox="1"/>
          <p:nvPr/>
        </p:nvSpPr>
        <p:spPr>
          <a:xfrm>
            <a:off x="4887998" y="561328"/>
            <a:ext cx="2565105" cy="12234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050" b="1" noProof="0" dirty="0"/>
              <a:t>RUGGEDCOM RST2428P</a:t>
            </a:r>
            <a:br>
              <a:rPr lang="en-US" sz="1050" noProof="0" dirty="0"/>
            </a:br>
            <a:r>
              <a:rPr lang="en-US" sz="1050" noProof="0" dirty="0"/>
              <a:t>An industrial managed Ethernet switch from Siemens running SINEC OS. It connects the maintenance access point to the station network and provides network switching and segmentation functions.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B32A1F80-8223-F0E6-4975-D0D065E5E9C0}"/>
              </a:ext>
            </a:extLst>
          </p:cNvPr>
          <p:cNvSpPr txBox="1"/>
          <p:nvPr/>
        </p:nvSpPr>
        <p:spPr>
          <a:xfrm>
            <a:off x="8334155" y="561710"/>
            <a:ext cx="2565105" cy="10618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050" b="1" noProof="0" dirty="0"/>
              <a:t>SICAM 8 CPCI85</a:t>
            </a:r>
            <a:br>
              <a:rPr lang="en-US" sz="1050" noProof="0" dirty="0"/>
            </a:br>
            <a:r>
              <a:rPr lang="en-US" sz="1050" noProof="0" dirty="0"/>
              <a:t>A Siemens RTU and substation automation controller. The component processes operational data and control commands and represents the critical target of the attack path.</a:t>
            </a:r>
          </a:p>
        </p:txBody>
      </p:sp>
      <p:pic>
        <p:nvPicPr>
          <p:cNvPr id="26" name="Picture 25">
            <a:extLst>
              <a:ext uri="{FF2B5EF4-FFF2-40B4-BE49-F238E27FC236}">
                <a16:creationId xmlns:a16="http://schemas.microsoft.com/office/drawing/2014/main" id="{0DFA5246-8F85-DD49-4330-EF4645D2AAC8}"/>
              </a:ext>
            </a:extLst>
          </p:cNvPr>
          <p:cNvPicPr>
            <a:picLocks noChangeAspect="1"/>
          </p:cNvPicPr>
          <p:nvPr/>
        </p:nvPicPr>
        <p:blipFill>
          <a:blip r:embed="rId2">
            <a:clrChange>
              <a:clrFrom>
                <a:srgbClr val="EEEEEE"/>
              </a:clrFrom>
              <a:clrTo>
                <a:srgbClr val="EEEEEE">
                  <a:alpha val="0"/>
                </a:srgbClr>
              </a:clrTo>
            </a:clrChange>
            <a:duotone>
              <a:schemeClr val="bg2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>
            <a:off x="631754" y="1425574"/>
            <a:ext cx="644862" cy="697352"/>
          </a:xfrm>
          <a:prstGeom prst="rect">
            <a:avLst/>
          </a:prstGeom>
          <a:ln>
            <a:noFill/>
          </a:ln>
        </p:spPr>
      </p:pic>
      <p:sp>
        <p:nvSpPr>
          <p:cNvPr id="27" name="Oval 26">
            <a:extLst>
              <a:ext uri="{FF2B5EF4-FFF2-40B4-BE49-F238E27FC236}">
                <a16:creationId xmlns:a16="http://schemas.microsoft.com/office/drawing/2014/main" id="{810D2387-76BB-E240-35FD-9F79D2B83B53}"/>
              </a:ext>
            </a:extLst>
          </p:cNvPr>
          <p:cNvSpPr/>
          <p:nvPr/>
        </p:nvSpPr>
        <p:spPr>
          <a:xfrm>
            <a:off x="9434285" y="2450773"/>
            <a:ext cx="648586" cy="653189"/>
          </a:xfrm>
          <a:prstGeom prst="ellipse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de-DE" sz="1600" dirty="0"/>
              <a:t>Asset</a:t>
            </a: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5B803404-A441-7AA6-55B4-5B0962BB3D86}"/>
              </a:ext>
            </a:extLst>
          </p:cNvPr>
          <p:cNvSpPr/>
          <p:nvPr/>
        </p:nvSpPr>
        <p:spPr>
          <a:xfrm>
            <a:off x="539958" y="2137145"/>
            <a:ext cx="1247440" cy="443114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1100" noProof="1">
                <a:solidFill>
                  <a:schemeClr val="tx1">
                    <a:lumMod val="50000"/>
                    <a:lumOff val="50000"/>
                  </a:schemeClr>
                </a:solidFill>
              </a:rPr>
              <a:t>Laptop is compromzied</a:t>
            </a: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6BD057F2-7173-A637-DAEB-CBE2D034985A}"/>
              </a:ext>
            </a:extLst>
          </p:cNvPr>
          <p:cNvSpPr/>
          <p:nvPr/>
        </p:nvSpPr>
        <p:spPr>
          <a:xfrm>
            <a:off x="1380761" y="3422010"/>
            <a:ext cx="6773391" cy="3318168"/>
          </a:xfrm>
          <a:prstGeom prst="rect">
            <a:avLst/>
          </a:prstGeom>
          <a:noFill/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r>
              <a:rPr lang="de-DE" sz="1100" b="1" noProof="1">
                <a:solidFill>
                  <a:schemeClr val="tx1">
                    <a:lumMod val="50000"/>
                    <a:lumOff val="50000"/>
                  </a:schemeClr>
                </a:solidFill>
              </a:rPr>
              <a:t>Initial Access</a:t>
            </a:r>
            <a:br>
              <a:rPr lang="de-DE" sz="1100" noProof="1">
                <a:solidFill>
                  <a:schemeClr val="tx1">
                    <a:lumMod val="50000"/>
                    <a:lumOff val="50000"/>
                  </a:schemeClr>
                </a:solidFill>
              </a:rPr>
            </a:br>
            <a:r>
              <a:rPr lang="de-DE" sz="1100" noProof="1">
                <a:solidFill>
                  <a:schemeClr val="tx1">
                    <a:lumMod val="50000"/>
                    <a:lumOff val="50000"/>
                  </a:schemeClr>
                </a:solidFill>
              </a:rPr>
              <a:t>The attacker controls the maintenance laptop or uses compromised credentials.</a:t>
            </a:r>
            <a:br>
              <a:rPr lang="de-DE" sz="1100" noProof="1">
                <a:solidFill>
                  <a:schemeClr val="tx1">
                    <a:lumMod val="50000"/>
                    <a:lumOff val="50000"/>
                  </a:schemeClr>
                </a:solidFill>
              </a:rPr>
            </a:br>
            <a:br>
              <a:rPr lang="de-DE" sz="1100" noProof="1">
                <a:solidFill>
                  <a:schemeClr val="tx1">
                    <a:lumMod val="50000"/>
                    <a:lumOff val="50000"/>
                  </a:schemeClr>
                </a:solidFill>
              </a:rPr>
            </a:br>
            <a:r>
              <a:rPr lang="de-DE" sz="1100" b="1" noProof="1">
                <a:solidFill>
                  <a:schemeClr val="tx1">
                    <a:lumMod val="50000"/>
                    <a:lumOff val="50000"/>
                  </a:schemeClr>
                </a:solidFill>
              </a:rPr>
              <a:t>Access to the Network Component</a:t>
            </a:r>
            <a:br>
              <a:rPr lang="de-DE" sz="1100" noProof="1">
                <a:solidFill>
                  <a:schemeClr val="tx1">
                    <a:lumMod val="50000"/>
                    <a:lumOff val="50000"/>
                  </a:schemeClr>
                </a:solidFill>
              </a:rPr>
            </a:br>
            <a:r>
              <a:rPr lang="de-DE" sz="1100" noProof="1">
                <a:solidFill>
                  <a:schemeClr val="tx1">
                    <a:lumMod val="50000"/>
                    <a:lumOff val="50000"/>
                  </a:schemeClr>
                </a:solidFill>
              </a:rPr>
              <a:t>Through the active management connection, the attacker reaches the RUGGEDCOM switch running SINEC OS.</a:t>
            </a:r>
            <a:br>
              <a:rPr lang="de-DE" sz="1100" noProof="1">
                <a:solidFill>
                  <a:schemeClr val="tx1">
                    <a:lumMod val="50000"/>
                    <a:lumOff val="50000"/>
                  </a:schemeClr>
                </a:solidFill>
              </a:rPr>
            </a:br>
            <a:br>
              <a:rPr lang="de-DE" sz="1100" noProof="1">
                <a:solidFill>
                  <a:schemeClr val="tx1">
                    <a:lumMod val="50000"/>
                    <a:lumOff val="50000"/>
                  </a:schemeClr>
                </a:solidFill>
              </a:rPr>
            </a:br>
            <a:r>
              <a:rPr lang="de-DE" sz="1100" b="1" noProof="1">
                <a:solidFill>
                  <a:schemeClr val="tx1">
                    <a:lumMod val="50000"/>
                    <a:lumOff val="50000"/>
                  </a:schemeClr>
                </a:solidFill>
              </a:rPr>
              <a:t>Manipulation or Bypass of Network Segmentation</a:t>
            </a:r>
            <a:br>
              <a:rPr lang="de-DE" sz="1100" noProof="1">
                <a:solidFill>
                  <a:schemeClr val="tx1">
                    <a:lumMod val="50000"/>
                    <a:lumOff val="50000"/>
                  </a:schemeClr>
                </a:solidFill>
              </a:rPr>
            </a:br>
            <a:r>
              <a:rPr lang="de-DE" sz="1100" noProof="1">
                <a:solidFill>
                  <a:schemeClr val="tx1">
                    <a:lumMod val="50000"/>
                    <a:lumOff val="50000"/>
                  </a:schemeClr>
                </a:solidFill>
              </a:rPr>
              <a:t>Some vulnerability affecting the device allows the attacker to modify or bypass network and access controls.</a:t>
            </a:r>
            <a:br>
              <a:rPr lang="de-DE" sz="1100" noProof="1">
                <a:solidFill>
                  <a:schemeClr val="tx1">
                    <a:lumMod val="50000"/>
                    <a:lumOff val="50000"/>
                  </a:schemeClr>
                </a:solidFill>
              </a:rPr>
            </a:br>
            <a:br>
              <a:rPr lang="de-DE" sz="1100" noProof="1">
                <a:solidFill>
                  <a:schemeClr val="tx1">
                    <a:lumMod val="50000"/>
                    <a:lumOff val="50000"/>
                  </a:schemeClr>
                </a:solidFill>
              </a:rPr>
            </a:br>
            <a:r>
              <a:rPr lang="de-DE" sz="1100" b="1" noProof="1">
                <a:solidFill>
                  <a:schemeClr val="tx1">
                    <a:lumMod val="50000"/>
                    <a:lumOff val="50000"/>
                  </a:schemeClr>
                </a:solidFill>
              </a:rPr>
              <a:t>Lateral Movement</a:t>
            </a:r>
            <a:br>
              <a:rPr lang="de-DE" sz="1100" noProof="1">
                <a:solidFill>
                  <a:schemeClr val="tx1">
                    <a:lumMod val="50000"/>
                    <a:lumOff val="50000"/>
                  </a:schemeClr>
                </a:solidFill>
              </a:rPr>
            </a:br>
            <a:r>
              <a:rPr lang="de-DE" sz="1100" noProof="1">
                <a:solidFill>
                  <a:schemeClr val="tx1">
                    <a:lumMod val="50000"/>
                    <a:lumOff val="50000"/>
                  </a:schemeClr>
                </a:solidFill>
              </a:rPr>
              <a:t>As a result, a previously unreachable SICAM 8 component within the station network becomes accessible.</a:t>
            </a:r>
            <a:br>
              <a:rPr lang="de-DE" sz="1100" noProof="1">
                <a:solidFill>
                  <a:schemeClr val="tx1">
                    <a:lumMod val="50000"/>
                    <a:lumOff val="50000"/>
                  </a:schemeClr>
                </a:solidFill>
              </a:rPr>
            </a:br>
            <a:br>
              <a:rPr lang="de-DE" sz="1100" noProof="1">
                <a:solidFill>
                  <a:schemeClr val="tx1">
                    <a:lumMod val="50000"/>
                    <a:lumOff val="50000"/>
                  </a:schemeClr>
                </a:solidFill>
              </a:rPr>
            </a:br>
            <a:r>
              <a:rPr lang="de-DE" sz="1100" b="1" noProof="1">
                <a:solidFill>
                  <a:schemeClr val="tx1">
                    <a:lumMod val="50000"/>
                    <a:lumOff val="50000"/>
                  </a:schemeClr>
                </a:solidFill>
              </a:rPr>
              <a:t>Compromise of the Control Component</a:t>
            </a:r>
            <a:br>
              <a:rPr lang="de-DE" sz="1100" noProof="1">
                <a:solidFill>
                  <a:schemeClr val="tx1">
                    <a:lumMod val="50000"/>
                    <a:lumOff val="50000"/>
                  </a:schemeClr>
                </a:solidFill>
              </a:rPr>
            </a:br>
            <a:r>
              <a:rPr lang="de-DE" sz="1100" noProof="1">
                <a:solidFill>
                  <a:schemeClr val="tx1">
                    <a:lumMod val="50000"/>
                    <a:lumOff val="50000"/>
                  </a:schemeClr>
                </a:solidFill>
              </a:rPr>
              <a:t>The attacker exploits one of the documented vulnerabilities affecting SICAM 8 or abuses an insecure product function.</a:t>
            </a:r>
            <a:br>
              <a:rPr lang="de-DE" sz="1100" noProof="1">
                <a:solidFill>
                  <a:schemeClr val="tx1">
                    <a:lumMod val="50000"/>
                    <a:lumOff val="50000"/>
                  </a:schemeClr>
                </a:solidFill>
              </a:rPr>
            </a:br>
            <a:br>
              <a:rPr lang="de-DE" sz="1100" noProof="1">
                <a:solidFill>
                  <a:schemeClr val="tx1">
                    <a:lumMod val="50000"/>
                    <a:lumOff val="50000"/>
                  </a:schemeClr>
                </a:solidFill>
              </a:rPr>
            </a:br>
            <a:r>
              <a:rPr lang="de-DE" sz="1100" b="1" noProof="1">
                <a:solidFill>
                  <a:schemeClr val="tx1">
                    <a:lumMod val="50000"/>
                    <a:lumOff val="50000"/>
                  </a:schemeClr>
                </a:solidFill>
              </a:rPr>
              <a:t>Impact</a:t>
            </a:r>
            <a:br>
              <a:rPr lang="de-DE" sz="1100" noProof="1">
                <a:solidFill>
                  <a:schemeClr val="tx1">
                    <a:lumMod val="50000"/>
                    <a:lumOff val="50000"/>
                  </a:schemeClr>
                </a:solidFill>
              </a:rPr>
            </a:br>
            <a:r>
              <a:rPr lang="de-DE" sz="1100" noProof="1">
                <a:solidFill>
                  <a:schemeClr val="tx1">
                    <a:lumMod val="50000"/>
                    <a:lumOff val="50000"/>
                  </a:schemeClr>
                </a:solidFill>
              </a:rPr>
              <a:t>The attacker can impair the availability or integrity of a protection, control, or communication function.</a:t>
            </a:r>
          </a:p>
        </p:txBody>
      </p:sp>
      <p:sp>
        <p:nvSpPr>
          <p:cNvPr id="31" name="Oval 30">
            <a:extLst>
              <a:ext uri="{FF2B5EF4-FFF2-40B4-BE49-F238E27FC236}">
                <a16:creationId xmlns:a16="http://schemas.microsoft.com/office/drawing/2014/main" id="{183C31F5-612C-AD07-55AA-5E26A721F31A}"/>
              </a:ext>
            </a:extLst>
          </p:cNvPr>
          <p:cNvSpPr/>
          <p:nvPr/>
        </p:nvSpPr>
        <p:spPr>
          <a:xfrm>
            <a:off x="878934" y="3496450"/>
            <a:ext cx="257747" cy="259576"/>
          </a:xfrm>
          <a:prstGeom prst="ellipse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de-DE" sz="1100" dirty="0"/>
              <a:t>1</a:t>
            </a:r>
          </a:p>
        </p:txBody>
      </p:sp>
      <p:sp>
        <p:nvSpPr>
          <p:cNvPr id="33" name="Oval 32">
            <a:extLst>
              <a:ext uri="{FF2B5EF4-FFF2-40B4-BE49-F238E27FC236}">
                <a16:creationId xmlns:a16="http://schemas.microsoft.com/office/drawing/2014/main" id="{20BB9600-8685-E37E-4F99-83943A9BD3B2}"/>
              </a:ext>
            </a:extLst>
          </p:cNvPr>
          <p:cNvSpPr/>
          <p:nvPr/>
        </p:nvSpPr>
        <p:spPr>
          <a:xfrm>
            <a:off x="878934" y="3987441"/>
            <a:ext cx="257747" cy="259576"/>
          </a:xfrm>
          <a:prstGeom prst="ellipse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de-DE" sz="1100" dirty="0"/>
              <a:t>2</a:t>
            </a:r>
          </a:p>
        </p:txBody>
      </p:sp>
      <p:sp>
        <p:nvSpPr>
          <p:cNvPr id="34" name="Oval 33">
            <a:extLst>
              <a:ext uri="{FF2B5EF4-FFF2-40B4-BE49-F238E27FC236}">
                <a16:creationId xmlns:a16="http://schemas.microsoft.com/office/drawing/2014/main" id="{2671FF7D-E5B1-03F7-766E-53F6B250E64A}"/>
              </a:ext>
            </a:extLst>
          </p:cNvPr>
          <p:cNvSpPr/>
          <p:nvPr/>
        </p:nvSpPr>
        <p:spPr>
          <a:xfrm>
            <a:off x="878934" y="4668025"/>
            <a:ext cx="257747" cy="259576"/>
          </a:xfrm>
          <a:prstGeom prst="ellipse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de-DE" sz="1100" dirty="0"/>
              <a:t>3</a:t>
            </a:r>
          </a:p>
        </p:txBody>
      </p:sp>
      <p:sp>
        <p:nvSpPr>
          <p:cNvPr id="35" name="Oval 34">
            <a:extLst>
              <a:ext uri="{FF2B5EF4-FFF2-40B4-BE49-F238E27FC236}">
                <a16:creationId xmlns:a16="http://schemas.microsoft.com/office/drawing/2014/main" id="{B806FB2E-5EFB-7319-F1D1-1AA9EEAFF5F5}"/>
              </a:ext>
            </a:extLst>
          </p:cNvPr>
          <p:cNvSpPr/>
          <p:nvPr/>
        </p:nvSpPr>
        <p:spPr>
          <a:xfrm>
            <a:off x="878934" y="5172850"/>
            <a:ext cx="257747" cy="259576"/>
          </a:xfrm>
          <a:prstGeom prst="ellipse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de-DE" sz="1100" dirty="0"/>
              <a:t>4</a:t>
            </a:r>
          </a:p>
        </p:txBody>
      </p:sp>
      <p:sp>
        <p:nvSpPr>
          <p:cNvPr id="36" name="Oval 35">
            <a:extLst>
              <a:ext uri="{FF2B5EF4-FFF2-40B4-BE49-F238E27FC236}">
                <a16:creationId xmlns:a16="http://schemas.microsoft.com/office/drawing/2014/main" id="{A24D4AE6-34E9-2994-34BB-AE44CCE75FEE}"/>
              </a:ext>
            </a:extLst>
          </p:cNvPr>
          <p:cNvSpPr/>
          <p:nvPr/>
        </p:nvSpPr>
        <p:spPr>
          <a:xfrm>
            <a:off x="878934" y="5655838"/>
            <a:ext cx="257747" cy="259576"/>
          </a:xfrm>
          <a:prstGeom prst="ellipse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de-DE" sz="1100" dirty="0"/>
              <a:t>5</a:t>
            </a:r>
          </a:p>
        </p:txBody>
      </p:sp>
      <p:sp>
        <p:nvSpPr>
          <p:cNvPr id="37" name="Oval 36">
            <a:extLst>
              <a:ext uri="{FF2B5EF4-FFF2-40B4-BE49-F238E27FC236}">
                <a16:creationId xmlns:a16="http://schemas.microsoft.com/office/drawing/2014/main" id="{CAD91586-3875-4CA0-B2B1-227C96E2E4A4}"/>
              </a:ext>
            </a:extLst>
          </p:cNvPr>
          <p:cNvSpPr/>
          <p:nvPr/>
        </p:nvSpPr>
        <p:spPr>
          <a:xfrm>
            <a:off x="878934" y="6347988"/>
            <a:ext cx="257747" cy="259576"/>
          </a:xfrm>
          <a:prstGeom prst="ellipse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de-DE" sz="1100" dirty="0"/>
          </a:p>
        </p:txBody>
      </p:sp>
      <p:cxnSp>
        <p:nvCxnSpPr>
          <p:cNvPr id="38" name="Straight Connector 37">
            <a:extLst>
              <a:ext uri="{FF2B5EF4-FFF2-40B4-BE49-F238E27FC236}">
                <a16:creationId xmlns:a16="http://schemas.microsoft.com/office/drawing/2014/main" id="{C1CD5ECB-03A6-E42F-5F7E-D838EAA4D972}"/>
              </a:ext>
            </a:extLst>
          </p:cNvPr>
          <p:cNvCxnSpPr>
            <a:cxnSpLocks/>
            <a:stCxn id="31" idx="4"/>
            <a:endCxn id="33" idx="0"/>
          </p:cNvCxnSpPr>
          <p:nvPr/>
        </p:nvCxnSpPr>
        <p:spPr>
          <a:xfrm>
            <a:off x="1007808" y="3756026"/>
            <a:ext cx="0" cy="231415"/>
          </a:xfrm>
          <a:prstGeom prst="line">
            <a:avLst/>
          </a:prstGeom>
          <a:ln w="12700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Straight Connector 40">
            <a:extLst>
              <a:ext uri="{FF2B5EF4-FFF2-40B4-BE49-F238E27FC236}">
                <a16:creationId xmlns:a16="http://schemas.microsoft.com/office/drawing/2014/main" id="{DC486B57-74A5-BDE8-4C6A-FCC4C5F7E217}"/>
              </a:ext>
            </a:extLst>
          </p:cNvPr>
          <p:cNvCxnSpPr>
            <a:cxnSpLocks/>
            <a:stCxn id="33" idx="4"/>
            <a:endCxn id="34" idx="0"/>
          </p:cNvCxnSpPr>
          <p:nvPr/>
        </p:nvCxnSpPr>
        <p:spPr>
          <a:xfrm>
            <a:off x="1007808" y="4247017"/>
            <a:ext cx="0" cy="421008"/>
          </a:xfrm>
          <a:prstGeom prst="line">
            <a:avLst/>
          </a:prstGeom>
          <a:ln w="12700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Straight Connector 43">
            <a:extLst>
              <a:ext uri="{FF2B5EF4-FFF2-40B4-BE49-F238E27FC236}">
                <a16:creationId xmlns:a16="http://schemas.microsoft.com/office/drawing/2014/main" id="{98A6454E-C12F-44E5-3988-1300B658765E}"/>
              </a:ext>
            </a:extLst>
          </p:cNvPr>
          <p:cNvCxnSpPr>
            <a:cxnSpLocks/>
            <a:stCxn id="34" idx="4"/>
            <a:endCxn id="35" idx="0"/>
          </p:cNvCxnSpPr>
          <p:nvPr/>
        </p:nvCxnSpPr>
        <p:spPr>
          <a:xfrm>
            <a:off x="1007808" y="4927601"/>
            <a:ext cx="0" cy="245249"/>
          </a:xfrm>
          <a:prstGeom prst="line">
            <a:avLst/>
          </a:prstGeom>
          <a:ln w="12700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" name="Straight Connector 46">
            <a:extLst>
              <a:ext uri="{FF2B5EF4-FFF2-40B4-BE49-F238E27FC236}">
                <a16:creationId xmlns:a16="http://schemas.microsoft.com/office/drawing/2014/main" id="{BD880A30-78C5-AF46-E138-371B86250387}"/>
              </a:ext>
            </a:extLst>
          </p:cNvPr>
          <p:cNvCxnSpPr>
            <a:cxnSpLocks/>
            <a:stCxn id="35" idx="4"/>
            <a:endCxn id="36" idx="0"/>
          </p:cNvCxnSpPr>
          <p:nvPr/>
        </p:nvCxnSpPr>
        <p:spPr>
          <a:xfrm>
            <a:off x="1007808" y="5432426"/>
            <a:ext cx="0" cy="223412"/>
          </a:xfrm>
          <a:prstGeom prst="line">
            <a:avLst/>
          </a:prstGeom>
          <a:ln w="12700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" name="Straight Connector 50">
            <a:extLst>
              <a:ext uri="{FF2B5EF4-FFF2-40B4-BE49-F238E27FC236}">
                <a16:creationId xmlns:a16="http://schemas.microsoft.com/office/drawing/2014/main" id="{B55DC002-8764-78AA-BC85-D1622906179E}"/>
              </a:ext>
            </a:extLst>
          </p:cNvPr>
          <p:cNvCxnSpPr>
            <a:cxnSpLocks/>
            <a:stCxn id="37" idx="0"/>
            <a:endCxn id="36" idx="4"/>
          </p:cNvCxnSpPr>
          <p:nvPr/>
        </p:nvCxnSpPr>
        <p:spPr>
          <a:xfrm flipV="1">
            <a:off x="1007808" y="5915414"/>
            <a:ext cx="0" cy="432574"/>
          </a:xfrm>
          <a:prstGeom prst="line">
            <a:avLst/>
          </a:prstGeom>
          <a:ln w="12700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4" name="TextBox 53">
            <a:extLst>
              <a:ext uri="{FF2B5EF4-FFF2-40B4-BE49-F238E27FC236}">
                <a16:creationId xmlns:a16="http://schemas.microsoft.com/office/drawing/2014/main" id="{80BB160C-D600-B7B6-C711-CAA6F55E21A7}"/>
              </a:ext>
            </a:extLst>
          </p:cNvPr>
          <p:cNvSpPr txBox="1"/>
          <p:nvPr/>
        </p:nvSpPr>
        <p:spPr>
          <a:xfrm>
            <a:off x="21375" y="10622"/>
            <a:ext cx="223061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noProof="1"/>
              <a:t>Example Attack Path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29C641F6-D313-3884-7CAA-886AB3A04867}"/>
              </a:ext>
            </a:extLst>
          </p:cNvPr>
          <p:cNvSpPr txBox="1"/>
          <p:nvPr/>
        </p:nvSpPr>
        <p:spPr>
          <a:xfrm>
            <a:off x="2604074" y="2250980"/>
            <a:ext cx="1617751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800" noProof="1"/>
              <a:t>maintenance_network_interface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1CE03F4E-2B71-7D78-EF67-269B7468FAA8}"/>
              </a:ext>
            </a:extLst>
          </p:cNvPr>
          <p:cNvSpPr txBox="1"/>
          <p:nvPr/>
        </p:nvSpPr>
        <p:spPr>
          <a:xfrm>
            <a:off x="4393172" y="2244251"/>
            <a:ext cx="1090363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800" noProof="1"/>
              <a:t>maintenance_uplink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A16A277E-6AD6-D595-0DBC-69773C39C048}"/>
              </a:ext>
            </a:extLst>
          </p:cNvPr>
          <p:cNvSpPr txBox="1"/>
          <p:nvPr/>
        </p:nvSpPr>
        <p:spPr>
          <a:xfrm>
            <a:off x="6329077" y="2244251"/>
            <a:ext cx="1124026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800" noProof="1"/>
              <a:t>station_network_port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04F1A3B9-013D-7DA4-6846-224DD13B2E1A}"/>
              </a:ext>
            </a:extLst>
          </p:cNvPr>
          <p:cNvSpPr txBox="1"/>
          <p:nvPr/>
        </p:nvSpPr>
        <p:spPr>
          <a:xfrm>
            <a:off x="4279495" y="2700364"/>
            <a:ext cx="1217000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800" noProof="1"/>
              <a:t>management_interface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DC8C1717-2DE0-42B6-110B-981DEDC7E18C}"/>
              </a:ext>
            </a:extLst>
          </p:cNvPr>
          <p:cNvSpPr txBox="1"/>
          <p:nvPr/>
        </p:nvSpPr>
        <p:spPr>
          <a:xfrm>
            <a:off x="7699897" y="2253267"/>
            <a:ext cx="1338828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800" noProof="1"/>
              <a:t>station_network_interface</a:t>
            </a:r>
          </a:p>
        </p:txBody>
      </p:sp>
      <p:sp>
        <p:nvSpPr>
          <p:cNvPr id="60" name="Rectangle 59">
            <a:extLst>
              <a:ext uri="{FF2B5EF4-FFF2-40B4-BE49-F238E27FC236}">
                <a16:creationId xmlns:a16="http://schemas.microsoft.com/office/drawing/2014/main" id="{8106BC31-79C1-B9F0-4793-2E2FC9792C8C}"/>
              </a:ext>
            </a:extLst>
          </p:cNvPr>
          <p:cNvSpPr/>
          <p:nvPr/>
        </p:nvSpPr>
        <p:spPr>
          <a:xfrm>
            <a:off x="10175003" y="2099122"/>
            <a:ext cx="180000" cy="180000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75000"/>
              </a:scheme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503999" rIns="46800" rtlCol="0" anchor="ctr" anchorCtr="0"/>
          <a:lstStyle/>
          <a:p>
            <a:pPr algn="ctr"/>
            <a:endParaRPr lang="en-US" sz="800" b="1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4C28750B-183B-906E-A9F6-DABF0FE07D1C}"/>
              </a:ext>
            </a:extLst>
          </p:cNvPr>
          <p:cNvSpPr txBox="1"/>
          <p:nvPr/>
        </p:nvSpPr>
        <p:spPr>
          <a:xfrm>
            <a:off x="9899474" y="2244294"/>
            <a:ext cx="821059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800" noProof="1"/>
              <a:t>field_interface</a:t>
            </a:r>
          </a:p>
        </p:txBody>
      </p:sp>
    </p:spTree>
    <p:extLst>
      <p:ext uri="{BB962C8B-B14F-4D97-AF65-F5344CB8AC3E}">
        <p14:creationId xmlns:p14="http://schemas.microsoft.com/office/powerpoint/2010/main" val="118922354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48</TotalTime>
  <Words>272</Words>
  <Application>Microsoft Macintosh PowerPoint</Application>
  <PresentationFormat>Widescreen</PresentationFormat>
  <Paragraphs>21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tino.jungebloud</dc:creator>
  <cp:lastModifiedBy>tino.jungebloud</cp:lastModifiedBy>
  <cp:revision>6</cp:revision>
  <dcterms:created xsi:type="dcterms:W3CDTF">2026-07-17T13:17:45Z</dcterms:created>
  <dcterms:modified xsi:type="dcterms:W3CDTF">2026-07-17T14:05:45Z</dcterms:modified>
</cp:coreProperties>
</file>